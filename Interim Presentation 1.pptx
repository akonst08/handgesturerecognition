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D302-DB4B-0A15-C556-AEF0915E0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DFF0E-647B-1FD5-1B65-4F3DE16D0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79336-C9BC-C842-625B-852A4175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17176-6EB9-1E20-E051-13286D1C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BA8A1-DB6D-6452-F4E9-5F8F88B7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509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E89C9-0CDB-0D6E-36D1-486AD8F5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64B1A-23EA-2E27-1B3C-A2836E2A3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A7E0F-D218-46DB-351C-666DFCFD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E3F19-359F-0DBA-7788-6E9AEDB91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B492B-C32A-1BC2-8365-4352DA5D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67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2BDC-4597-79AD-17CA-40F6EF43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07270-0DC6-11DF-85AA-D9081BE97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F7E80-71B1-A358-82BE-C9C5596A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4FB4D-DF11-15C1-BC18-8C17CD37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5FF1-53A7-E582-F90E-292BCCAE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248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4BBD-E975-C17F-4816-D16F2BEA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1CDBF-97C1-9B07-22B1-4681637BE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2429D-5C00-E233-F52C-AC804D3C3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9715D-12BA-7157-6B52-AB7987F0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485EA-F51A-A2D0-2B7B-B04E8825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D47F1-149F-B4A8-3EE5-1486F109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852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A8A2-482F-CC2F-B134-A5316697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55697-1CDE-7202-C7C4-976A48165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BB725-A4E7-5318-4A1F-F0F16D93B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C384B-E47B-D3DE-6821-549303A36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840DB-4A33-3053-D0D8-B3616BE50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2C71B-CF10-4BF2-A267-DD313EA0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02F1D-D38E-D61A-DC90-394E5FB9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AFE9B-5FEB-7720-75C0-F47F0864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674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1D23-36B2-6190-457C-5798B20E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2AD44-BF1F-AFA9-59F0-1B51D8F8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EB0E6-719A-0453-A4F5-68740C7B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35345-84C6-6266-CD03-449D52D9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8517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A9C94-68AC-462E-F18F-B374FE3D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FD741-FAEC-7195-10CF-8313AA6C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B0CD6-844D-45E8-6413-23B1E32A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234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3CA3-9EEF-B5D7-1F13-117F4323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B7CB0-BDDF-0DF8-9F64-0536C4092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35BD-271D-B371-BA15-7C897C123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CA067-6321-907F-8CD6-CB98C96B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2595B-73F4-6807-EB2D-CB93DF79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AA368-6D6A-85BD-F87B-9806CCA0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94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9E1A-7967-3258-90CC-F1BC55366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9CB5A-0D45-BFC4-9CDC-9FBD1AC87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F9592-EF7F-1D94-2377-32F047CFE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CFBFD-67C2-6645-BF68-765EABD9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F22AA-DF87-B5FA-41E2-E1BB66E8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ED707-6EA9-AD60-E989-063DBD1D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5430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F420-BD6B-337E-04A4-B9FA7571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CFF3F-D45C-1C67-8FDD-D0DDDD628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9C28D-84BE-C601-9284-FFADE7A0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6D256-2C16-CED6-6699-218025A2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B976E-E1A5-BB07-B05A-119D035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283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E6DB5-2C09-3C38-6BD7-3C8DB7FEF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EEF18-81F9-68DA-7F84-2E231D590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2E380-AB7F-C1CA-5E7B-F7EA0DA2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720B3-F2EC-E3C9-FEC6-66F6EFDB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320DF-C5F2-3FF2-0EB1-0FD51F7A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549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82E54-89F5-68D3-670F-DFF37E5B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553D7-FE38-10CB-E2FE-B10E0526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99B7F-8F62-761B-E60F-79DCD69F6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3D640-19F3-4345-8308-BE8D74708559}" type="datetimeFigureOut">
              <a:rPr lang="LID4096" smtClean="0"/>
              <a:t>04/01/2025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73C5F-699A-60AB-901D-D6A35D968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FBC4B-8D40-98B7-F413-B3C56073A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ECC10-F160-4D90-9B76-83D7C27CD56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743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BCE33-4C76-68F7-5679-C34E44B1C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Interim Presentation 1</a:t>
            </a:r>
            <a:br>
              <a:rPr lang="en-US" sz="4800">
                <a:solidFill>
                  <a:srgbClr val="FFFFFF"/>
                </a:solidFill>
              </a:rPr>
            </a:b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Hand Gesture Recognition</a:t>
            </a:r>
            <a:endParaRPr lang="LID4096" sz="480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D3D77-1732-C5CE-0B0F-AD46957F9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sz="2000">
                <a:solidFill>
                  <a:srgbClr val="FFFFFF"/>
                </a:solidFill>
              </a:rPr>
              <a:t>Marko Zako</a:t>
            </a:r>
          </a:p>
          <a:p>
            <a:pPr algn="r"/>
            <a:r>
              <a:rPr lang="en-US" sz="2000">
                <a:solidFill>
                  <a:srgbClr val="FFFFFF"/>
                </a:solidFill>
              </a:rPr>
              <a:t>Arestis Konstantinou</a:t>
            </a:r>
          </a:p>
          <a:p>
            <a:pPr algn="r"/>
            <a:r>
              <a:rPr lang="en-US" sz="2000">
                <a:solidFill>
                  <a:srgbClr val="FFFFFF"/>
                </a:solidFill>
              </a:rPr>
              <a:t>EPL445 Group Project</a:t>
            </a:r>
            <a:endParaRPr lang="LID4096" sz="2000">
              <a:solidFill>
                <a:srgbClr val="FFFFFF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8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ECB9C-B764-2B67-66A7-71FDD9D4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  <a:endParaRPr lang="LID4096" sz="4000">
              <a:solidFill>
                <a:srgbClr val="FFFFFF"/>
              </a:solidFill>
            </a:endParaRPr>
          </a:p>
        </p:txBody>
      </p:sp>
      <p:pic>
        <p:nvPicPr>
          <p:cNvPr id="1026" name="Picture 2" descr="2206.08219] HaGRID – HAnd Gesture Recognition Image Dataset">
            <a:extLst>
              <a:ext uri="{FF2B5EF4-FFF2-40B4-BE49-F238E27FC236}">
                <a16:creationId xmlns:a16="http://schemas.microsoft.com/office/drawing/2014/main" id="{330B1DC1-55A2-37F1-9EA0-2BC210D51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3498" y="1260871"/>
            <a:ext cx="5270939" cy="321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A775-F99C-BC79-532F-002F9984D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36" y="1260871"/>
            <a:ext cx="4319867" cy="3687089"/>
          </a:xfrm>
        </p:spPr>
        <p:txBody>
          <a:bodyPr anchor="ctr">
            <a:noAutofit/>
          </a:bodyPr>
          <a:lstStyle/>
          <a:p>
            <a:r>
              <a:rPr lang="en-US" sz="2000" dirty="0"/>
              <a:t>Goal: Classify hand gestures given an input video (live webcam), trained on a hand gesture image database.</a:t>
            </a:r>
          </a:p>
          <a:p>
            <a:endParaRPr lang="en-US" sz="2000" dirty="0"/>
          </a:p>
          <a:p>
            <a:r>
              <a:rPr lang="en-US" sz="2000" dirty="0"/>
              <a:t>Motivation: Hand gesture recognition is a lightweight, non-invasive input method for HCI. Also very important for people with hearing disabilities.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442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EFF24-22AE-C545-06C3-D4DB19B6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Methodology</a:t>
            </a:r>
            <a:endParaRPr lang="LID4096" sz="400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8D774F-6BF0-FAA3-6D35-2C2159D78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6159" y="455553"/>
            <a:ext cx="6359682" cy="220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0E99F-EB81-2E27-653B-4FC55DE2C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064" y="2931137"/>
            <a:ext cx="9494768" cy="2047560"/>
          </a:xfrm>
        </p:spPr>
        <p:txBody>
          <a:bodyPr anchor="ctr">
            <a:noAutofit/>
          </a:bodyPr>
          <a:lstStyle/>
          <a:p>
            <a:r>
              <a:rPr lang="en-US" sz="2000" dirty="0"/>
              <a:t>Convert the input images to </a:t>
            </a:r>
            <a:r>
              <a:rPr lang="en-US" sz="2000" dirty="0" err="1"/>
              <a:t>x,y</a:t>
            </a:r>
            <a:r>
              <a:rPr lang="en-US" sz="2000" dirty="0"/>
              <a:t> coordinates (hand patterns), based on </a:t>
            </a:r>
            <a:r>
              <a:rPr lang="en-US" sz="2000" dirty="0" err="1"/>
              <a:t>MediaPipe</a:t>
            </a:r>
            <a:r>
              <a:rPr lang="en-US" sz="2000" dirty="0"/>
              <a:t> API hand patterns, which use CNN.</a:t>
            </a:r>
          </a:p>
          <a:p>
            <a:r>
              <a:rPr lang="en-US" sz="2000" dirty="0"/>
              <a:t>Take those coordinates (all labeled in different categories) and train our feed-forward neural network on hand patterns.</a:t>
            </a:r>
          </a:p>
          <a:p>
            <a:r>
              <a:rPr lang="en-US" sz="2000" dirty="0"/>
              <a:t>Take each frame of video input, crop out the hand found, pass that hand to a CNN to get the hand structure (</a:t>
            </a:r>
            <a:r>
              <a:rPr lang="en-US" sz="2000" dirty="0" err="1"/>
              <a:t>MediaPipe</a:t>
            </a:r>
            <a:r>
              <a:rPr lang="en-US" sz="2000" dirty="0"/>
              <a:t> API), give that to the trained neural network and test it. A result will be displayed in each frame.</a:t>
            </a:r>
          </a:p>
        </p:txBody>
      </p:sp>
    </p:spTree>
    <p:extLst>
      <p:ext uri="{BB962C8B-B14F-4D97-AF65-F5344CB8AC3E}">
        <p14:creationId xmlns:p14="http://schemas.microsoft.com/office/powerpoint/2010/main" val="2150518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A5C46-09FA-F645-1E8A-C52E2D871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Database</a:t>
            </a:r>
            <a:endParaRPr lang="LID4096" sz="4000">
              <a:solidFill>
                <a:srgbClr val="FFFFFF"/>
              </a:solidFill>
            </a:endParaRPr>
          </a:p>
        </p:txBody>
      </p:sp>
      <p:pic>
        <p:nvPicPr>
          <p:cNvPr id="4" name="Picture 2" descr="2206.08219] HaGRID – HAnd Gesture Recognition Image Dataset">
            <a:extLst>
              <a:ext uri="{FF2B5EF4-FFF2-40B4-BE49-F238E27FC236}">
                <a16:creationId xmlns:a16="http://schemas.microsoft.com/office/drawing/2014/main" id="{FCCBA894-F590-6571-14DF-B85F2B68B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58197" y="1374601"/>
            <a:ext cx="4804441" cy="293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D279F-5265-CA30-387E-04538B103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65" y="1537098"/>
            <a:ext cx="6882197" cy="3546412"/>
          </a:xfrm>
        </p:spPr>
        <p:txBody>
          <a:bodyPr anchor="ctr">
            <a:noAutofit/>
          </a:bodyPr>
          <a:lstStyle/>
          <a:p>
            <a:r>
              <a:rPr lang="en-US" sz="2000" dirty="0"/>
              <a:t>We will train our model based on the </a:t>
            </a:r>
            <a:r>
              <a:rPr lang="en-US" sz="2000" dirty="0" err="1"/>
              <a:t>HaGRID</a:t>
            </a:r>
            <a:r>
              <a:rPr lang="en-US" sz="2000" dirty="0"/>
              <a:t> </a:t>
            </a:r>
            <a:r>
              <a:rPr lang="en-GB" sz="2000" b="0" i="0" dirty="0">
                <a:effectLst/>
                <a:latin typeface="Inter"/>
              </a:rPr>
              <a:t>(</a:t>
            </a:r>
            <a:r>
              <a:rPr lang="en-GB" sz="2000" b="0" i="0" dirty="0" err="1">
                <a:effectLst/>
                <a:latin typeface="Inter"/>
              </a:rPr>
              <a:t>HAnd</a:t>
            </a:r>
            <a:r>
              <a:rPr lang="en-GB" sz="2000" b="0" i="0" dirty="0">
                <a:effectLst/>
                <a:latin typeface="Inter"/>
              </a:rPr>
              <a:t> Gesture Recognition Image Dataset)</a:t>
            </a:r>
            <a:r>
              <a:rPr lang="en-US" sz="2000" dirty="0"/>
              <a:t> database found on Kaggle: </a:t>
            </a:r>
          </a:p>
          <a:p>
            <a:pPr marL="0" indent="0">
              <a:buNone/>
            </a:pPr>
            <a:r>
              <a:rPr lang="en-US" sz="2000" dirty="0"/>
              <a:t>https://www.kaggle.com/datasets/kapitanov/hagrid</a:t>
            </a:r>
          </a:p>
          <a:p>
            <a:r>
              <a:rPr lang="en-US" sz="2000" dirty="0"/>
              <a:t>Since this is a VERY large database (TB’s!), we will only use a subset of the images (120K images, 384p each).</a:t>
            </a:r>
          </a:p>
          <a:p>
            <a:r>
              <a:rPr lang="en-US" sz="2000" dirty="0"/>
              <a:t>The images are divided into 18 classes:</a:t>
            </a:r>
            <a:br>
              <a:rPr lang="en-US" sz="2000" dirty="0"/>
            </a:br>
            <a:r>
              <a:rPr lang="en-US" sz="2000" dirty="0"/>
              <a:t>call, dislike, fist, four, like, mute, ok, one, palm, peace, </a:t>
            </a:r>
            <a:r>
              <a:rPr lang="en-US" sz="2000" dirty="0" err="1"/>
              <a:t>peace_inverted</a:t>
            </a:r>
            <a:r>
              <a:rPr lang="en-US" sz="2000" dirty="0"/>
              <a:t>, rock, stop, </a:t>
            </a:r>
            <a:r>
              <a:rPr lang="en-US" sz="2000" dirty="0" err="1"/>
              <a:t>stop_inverted</a:t>
            </a:r>
            <a:r>
              <a:rPr lang="en-US" sz="2000" dirty="0"/>
              <a:t>, three, three2, </a:t>
            </a:r>
            <a:r>
              <a:rPr lang="en-US" sz="2000" dirty="0" err="1"/>
              <a:t>two_up</a:t>
            </a:r>
            <a:r>
              <a:rPr lang="en-US" sz="2000" dirty="0"/>
              <a:t>, </a:t>
            </a:r>
            <a:r>
              <a:rPr lang="en-US" sz="2000" dirty="0" err="1"/>
              <a:t>two_up_inverted</a:t>
            </a:r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12043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D7011-57EA-E940-A476-F146CE5E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Resources Available</a:t>
            </a:r>
            <a:endParaRPr lang="LID4096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1E1F-488E-E259-0BF0-391D87BD2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Language: Python 3.12</a:t>
            </a:r>
          </a:p>
          <a:p>
            <a:endParaRPr lang="en-US" sz="2000" dirty="0"/>
          </a:p>
          <a:p>
            <a:r>
              <a:rPr lang="en-US" sz="2000" dirty="0"/>
              <a:t>Libraries: NumPy, CSV, OpenCV, </a:t>
            </a:r>
            <a:r>
              <a:rPr lang="en-US" sz="2000" dirty="0" err="1"/>
              <a:t>MediaPipe</a:t>
            </a:r>
            <a:r>
              <a:rPr lang="en-US" sz="2000" dirty="0"/>
              <a:t>, TensorFlow, scikit-learn</a:t>
            </a:r>
          </a:p>
          <a:p>
            <a:endParaRPr lang="en-US" sz="2000" dirty="0"/>
          </a:p>
          <a:p>
            <a:r>
              <a:rPr lang="en-US" sz="2000" dirty="0"/>
              <a:t>Database previously mentioned.</a:t>
            </a:r>
          </a:p>
          <a:p>
            <a:endParaRPr lang="en-US" sz="2000" dirty="0"/>
          </a:p>
          <a:p>
            <a:r>
              <a:rPr lang="en-US" sz="2000" dirty="0"/>
              <a:t>Some trained models on the internet, we will train our own model.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0EAAA798-6342-907C-42D2-87E7D48BE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872" y="2703006"/>
            <a:ext cx="588519" cy="645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526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38</TotalTime>
  <Words>307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Inter</vt:lpstr>
      <vt:lpstr>Office Theme</vt:lpstr>
      <vt:lpstr>Interim Presentation 1  Hand Gesture Recognition</vt:lpstr>
      <vt:lpstr>Introduction</vt:lpstr>
      <vt:lpstr>Methodology</vt:lpstr>
      <vt:lpstr>Database</vt:lpstr>
      <vt:lpstr>Resources Available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Zako</dc:creator>
  <cp:lastModifiedBy>Marko Zako</cp:lastModifiedBy>
  <cp:revision>1</cp:revision>
  <dcterms:created xsi:type="dcterms:W3CDTF">2025-04-01T13:57:57Z</dcterms:created>
  <dcterms:modified xsi:type="dcterms:W3CDTF">2025-04-01T14:36:43Z</dcterms:modified>
</cp:coreProperties>
</file>